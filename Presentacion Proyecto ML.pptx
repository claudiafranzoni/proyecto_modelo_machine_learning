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9" r:id="rId11"/>
    <p:sldId id="268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015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resultado del encargo: un modelo para que el banco decida a qué clientes llamar primero en su campaña de depósitos. Empiezo yo con la oportunidad de negocio y los hallazgos; luego el equipo detalla el procesado y el modelado.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¿Por qué le importa al banco que contraten? Porque un depósito le da financiación estable y barata: el cliente deja su dinero un tiempo a cambio de intereses, el banco dispone de ese dinero de forma previsible, y lo presta a otros a un interés mayor, quedándose con el margen. Captar depósitos por teléfono es caro —solo 12 de cada 100 contratan—, así que un modelo que priorice a quién llamar hace esa captación más eficiente. Ese es el sentido de nuestro proyecto. (Nota: no doy cifras de margen concretas porque no las tenemos de este banco.)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de negocio: el banco vende el depósito llamando por teléfono, pero de cada 100 clientes solo unos 12 contratan. Casi 9 de cada 10 llamadas acaban en no, y cada una cuesta. La pregunta que resolvemos es: a qué clientes llamar primero para contratar más llamando 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datos nos dicen a quién priorizar. La señal más potente: quien ya contrató en una campaña anterior vuelve a contratar al 65%, cinco veces la media. También hay meses claramente mejores, los jóvenes y mayores responden más, y quienes no tienen deudas tienen más margen para ahorrar. Todo esto orienta a quién llamar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Agrupamos la cartera en cuatro perfiles de cliente. Y no es decorativo: según el perfil, la conversión va del 23% al 6%, casi cuatro veces. Eso permite concentrar las llamadas en los dos perfiles fuertes y dejar de lado a casi la mitad de la cartera perdiendo muy pocas conversiones. Es el corazón del enfoque: priorizar por perfil.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todo esto salen recomendaciones concretas para la próxima campaña: recontactar a quienes ya contrataron, concentrar en los meses fuertes, priorizar los dos segmentos de alta conversión y despriorizar la mitad más baja, y limitar las llamadas por cliente para no saturar. El resultado esperado es la misma conversión con bastantes menos llamadas. Nota honesta: hablamos de eficiencia, no de una cifra exacta de ahorro, porque no tenemos el coste por llamada.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resumen, entregamos tres cosas: un modelo fiable que prioriza a quién llamar usando solo datos previos a la llamada, cuatro perfiles de cliente accionables, y recomendaciones claras para captar más llamando menos. A partir de aquí, el equipo técnico explica cómo se construye.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(Aquí toma el relevo Marta para explicar el procesado de datos.)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E8A6A-DEF0-2FA7-4EC8-073DF7662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227B82-3974-15C3-6DB5-F5E07BA51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9D518-C5CE-27B4-F2D7-344CB7834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todo esto salen recomendaciones concretas para la próxima campaña: recontactar a quienes ya contrataron, concentrar en los meses fuertes, priorizar los dos segmentos de alta conversión y despriorizar la mitad más baja, y limitar las llamadas por cliente para no saturar. El resultado esperado es la misma conversión con bastantes menos llamadas. Nota honesta: hablamos de eficiencia, no de una cifra exacta de ahorro, porque no tenemos el coste por llamada.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B09AB-16AC-FDC2-1155-4F96B2FA91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75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96AD-D840-9049-E0A7-E79E36BEA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3948E-E1DA-5F9D-04F3-0FE9AB8E2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8AE36-CB60-E4B1-12AF-7B5298277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(Aquí toma el relevo Marta para explicar el procesado de datos.)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D1822-4172-ABE3-E081-3D18BC501E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4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2A37B-ABB3-291B-15D0-B993268A3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D8C7F-C3A6-1D10-C01F-44877B631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8B566-E334-C3CD-6DEB-C0307E91C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todo esto salen recomendaciones concretas para la próxima campaña: recontactar a quienes ya contrataron, concentrar en los meses fuertes, priorizar los dos segmentos de alta conversión y despriorizar la mitad más baja, y limitar las llamadas por cliente para no saturar. El resultado esperado es la misma conversión con bastantes menos llamadas. Nota honesta: hablamos de eficiencia, no de una cifra exacta de ahorro, porque no tenemos el coste por llamada.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0F68F-F2EC-CD3B-3EB4-55239CFBAF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87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(Aquí toma el relevo María para explicar el modelado.)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4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822960"/>
            <a:ext cx="128016" cy="128016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1280160"/>
            <a:ext cx="128016" cy="128016"/>
          </a:xfrm>
          <a:prstGeom prst="ellipse">
            <a:avLst/>
          </a:prstGeom>
          <a:solidFill>
            <a:srgbClr val="B58A2E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1645920"/>
            <a:ext cx="128016" cy="128016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0116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2377440"/>
            <a:ext cx="128016" cy="128016"/>
          </a:xfrm>
          <a:prstGeom prst="ellipse">
            <a:avLst/>
          </a:prstGeom>
          <a:solidFill>
            <a:srgbClr val="5FBBA3"/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0" y="2834640"/>
            <a:ext cx="128016" cy="128016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0" y="457200"/>
            <a:ext cx="128016" cy="128016"/>
          </a:xfrm>
          <a:prstGeom prst="ellipse">
            <a:avLst/>
          </a:prstGeom>
          <a:solidFill>
            <a:srgbClr val="B58A2E"/>
          </a:solidFill>
          <a:ln/>
        </p:spPr>
      </p:sp>
      <p:sp>
        <p:nvSpPr>
          <p:cNvPr id="9" name="Shape 7"/>
          <p:cNvSpPr/>
          <p:nvPr/>
        </p:nvSpPr>
        <p:spPr>
          <a:xfrm>
            <a:off x="11795760" y="1554480"/>
            <a:ext cx="128016" cy="128016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5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MODELO DE MACHINE LEARNING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077586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erlin Sans FB Demi" panose="020E0802020502020306" pitchFamily="34" charset="0"/>
                <a:ea typeface="Cambria" pitchFamily="34" charset="-122"/>
                <a:cs typeface="Cambria" pitchFamily="34" charset="-120"/>
              </a:rPr>
              <a:t>PREDICCIÓN DE SUSCRIPCIÓN A UN DÉPOSITO A PLAZO</a:t>
            </a:r>
          </a:p>
          <a:p>
            <a:pPr marL="0" indent="0">
              <a:lnSpc>
                <a:spcPts val="4400"/>
              </a:lnSpc>
              <a:buNone/>
            </a:pPr>
            <a:endParaRPr lang="en-US" sz="40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465429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para decidir a qué clientes llamar primero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campaña real de marketing bancario · 45.211 clientes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85216"/>
            <a:ext cx="146304" cy="146304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1206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C1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LE IMPORTA AL BANCO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le interesa al banco que la gente contrate?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2A4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depósitos le dan al banco </a:t>
            </a:r>
            <a:r>
              <a:rPr lang="en-US" sz="1900" b="1" i="1" dirty="0">
                <a:solidFill>
                  <a:srgbClr val="2A4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financiación estable y barata</a:t>
            </a:r>
            <a:r>
              <a:rPr lang="en-US" sz="1900" i="1" dirty="0">
                <a:solidFill>
                  <a:srgbClr val="2A4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su negocio de prestar dinero.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3108960" cy="1874520"/>
          </a:xfrm>
          <a:prstGeom prst="roundRect">
            <a:avLst>
              <a:gd name="adj" fmla="val 3902"/>
            </a:avLst>
          </a:prstGeom>
          <a:solidFill>
            <a:srgbClr val="F3F5F8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2825496"/>
            <a:ext cx="457200" cy="45720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4472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contrata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F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su dinero un tiempo a cambio de intereses.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67912" y="2606040"/>
            <a:ext cx="53949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1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89120" y="2606040"/>
            <a:ext cx="3108960" cy="1874520"/>
          </a:xfrm>
          <a:prstGeom prst="roundRect">
            <a:avLst>
              <a:gd name="adj" fmla="val 3902"/>
            </a:avLst>
          </a:prstGeom>
          <a:solidFill>
            <a:srgbClr val="F3F5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0288" y="2825496"/>
            <a:ext cx="457200" cy="457200"/>
          </a:xfrm>
          <a:prstGeom prst="ellipse">
            <a:avLst/>
          </a:prstGeom>
          <a:solidFill>
            <a:srgbClr val="2A4B7C"/>
          </a:solidFill>
          <a:ln/>
        </p:spPr>
      </p:sp>
      <p:sp>
        <p:nvSpPr>
          <p:cNvPr id="14" name="Text 12"/>
          <p:cNvSpPr/>
          <p:nvPr/>
        </p:nvSpPr>
        <p:spPr>
          <a:xfrm>
            <a:off x="4590288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34472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capta financiación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3840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F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 estable y previsible que puede planificar.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79792" y="2606040"/>
            <a:ext cx="53949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1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001000" y="2606040"/>
            <a:ext cx="3108960" cy="1874520"/>
          </a:xfrm>
          <a:prstGeom prst="roundRect">
            <a:avLst>
              <a:gd name="adj" fmla="val 3902"/>
            </a:avLst>
          </a:prstGeom>
          <a:solidFill>
            <a:srgbClr val="F3F5F8"/>
          </a:solidFill>
          <a:ln/>
        </p:spPr>
      </p:sp>
      <p:sp>
        <p:nvSpPr>
          <p:cNvPr id="19" name="Shape 17"/>
          <p:cNvSpPr/>
          <p:nvPr/>
        </p:nvSpPr>
        <p:spPr>
          <a:xfrm>
            <a:off x="8202168" y="2825496"/>
            <a:ext cx="457200" cy="457200"/>
          </a:xfrm>
          <a:prstGeom prst="ellipse">
            <a:avLst/>
          </a:prstGeom>
          <a:solidFill>
            <a:srgbClr val="B5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2168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0" y="34472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presta a mayor interés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0" y="3840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F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 ese dinero más caro y gana la diferencia (el margen).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4846320"/>
            <a:ext cx="10652760" cy="1234440"/>
          </a:xfrm>
          <a:prstGeom prst="roundRect">
            <a:avLst>
              <a:gd name="adj" fmla="val 6667"/>
            </a:avLst>
          </a:prstGeom>
          <a:solidFill>
            <a:srgbClr val="EAF3EF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98348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importa el modelo:  </a:t>
            </a: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captar por teléfono es caro (solo ~12 de cada 100 contratan). Priorizar a quién llamar capta lo mismo con menos llamadas, y hace más eficiente la financiación que sostiene el negocio del banco.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77240" y="6217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adicionales: fidelización del cliente y menor dependencia de financiación cara en los mercados.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85216"/>
            <a:ext cx="146304" cy="146304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120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C1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NEGOCIO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oportunidad: llamar menos y acertar más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31520" y="2112264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</a:t>
            </a:r>
            <a:r>
              <a:rPr lang="en-US" sz="1900" dirty="0" err="1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</a:t>
            </a:r>
            <a:r>
              <a:rPr lang="en-US" sz="19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9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 a plazo</a:t>
            </a:r>
            <a:r>
              <a:rPr lang="en-US" sz="19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teléfono, pero de cada 100 clientes </a:t>
            </a:r>
            <a:r>
              <a:rPr lang="en-US" sz="1900" dirty="0" err="1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contactados</a:t>
            </a:r>
            <a:r>
              <a:rPr lang="en-US" sz="19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</a:t>
            </a:r>
            <a:r>
              <a:rPr lang="en-US" sz="1900" b="1" dirty="0">
                <a:solidFill>
                  <a:srgbClr val="C1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 </a:t>
            </a:r>
            <a:r>
              <a:rPr lang="en-US" sz="1900" b="1" dirty="0" err="1">
                <a:solidFill>
                  <a:srgbClr val="C1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contratan</a:t>
            </a:r>
            <a:r>
              <a:rPr lang="en-US" sz="19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06000"/>
              </a:lnSpc>
              <a:buNone/>
            </a:pPr>
            <a:endParaRPr lang="en-US" sz="1900" dirty="0">
              <a:solidFill>
                <a:srgbClr val="1F27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6000"/>
              </a:lnSpc>
              <a:buNone/>
            </a:pPr>
            <a:r>
              <a:rPr lang="es-ES" sz="19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depósito a plazo es un producto de ahorro: el cliente inmoviliza dinero un tiempo a cambio de intereses.</a:t>
            </a:r>
            <a:endParaRPr lang="en-US" sz="1900" dirty="0">
              <a:solidFill>
                <a:srgbClr val="1F27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712464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 err="1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9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llamada cuesta tiempo y </a:t>
            </a:r>
            <a:r>
              <a:rPr lang="en-US" sz="1900" dirty="0" err="1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r>
              <a:rPr lang="en-US" sz="19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B7522FA3-5DD8-B28B-B4EE-E6E027BA4078}"/>
              </a:ext>
            </a:extLst>
          </p:cNvPr>
          <p:cNvGrpSpPr/>
          <p:nvPr/>
        </p:nvGrpSpPr>
        <p:grpSpPr>
          <a:xfrm>
            <a:off x="731520" y="4535424"/>
            <a:ext cx="6217920" cy="1737360"/>
            <a:chOff x="777240" y="4069080"/>
            <a:chExt cx="6217920" cy="1737360"/>
          </a:xfrm>
        </p:grpSpPr>
        <p:sp>
          <p:nvSpPr>
            <p:cNvPr id="7" name="Shape 5"/>
            <p:cNvSpPr/>
            <p:nvPr/>
          </p:nvSpPr>
          <p:spPr>
            <a:xfrm>
              <a:off x="777240" y="4069080"/>
              <a:ext cx="6217920" cy="1737360"/>
            </a:xfrm>
            <a:prstGeom prst="roundRect">
              <a:avLst>
                <a:gd name="adj" fmla="val 4737"/>
              </a:avLst>
            </a:prstGeom>
            <a:solidFill>
              <a:srgbClr val="EAF3EF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1051560" y="4251960"/>
              <a:ext cx="54864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kern="0" spc="200" dirty="0">
                  <a:solidFill>
                    <a:srgbClr val="2E7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PREGUNTA CLAVE</a:t>
              </a:r>
              <a:endParaRPr lang="en-US" sz="12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051560" y="4617720"/>
              <a:ext cx="566928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3000"/>
                </a:lnSpc>
                <a:buNone/>
              </a:pPr>
              <a:r>
                <a:rPr lang="en-US" sz="1900" i="1" dirty="0">
                  <a:solidFill>
                    <a:srgbClr val="1F273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¿A qué clientes deberíamos llamar primero para contratar más, llamando menos?</a:t>
              </a:r>
              <a:endParaRPr lang="en-US" sz="1900" dirty="0"/>
            </a:p>
          </p:txBody>
        </p:sp>
      </p:grpSp>
      <p:pic>
        <p:nvPicPr>
          <p:cNvPr id="10" name="Image 0" descr="/home/claude/slides/waff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737360"/>
            <a:ext cx="3931920" cy="3931920"/>
          </a:xfrm>
          <a:prstGeom prst="rect">
            <a:avLst/>
          </a:prstGeom>
          <a:effectLst>
            <a:outerShdw blurRad="88900" dist="38100" dir="5400000" algn="bl" rotWithShape="0">
              <a:srgbClr val="9AA3AD">
                <a:alpha val="35000"/>
              </a:srgbClr>
            </a:outerShdw>
          </a:effectLst>
        </p:spPr>
      </p:pic>
      <p:sp>
        <p:nvSpPr>
          <p:cNvPr id="11" name="Text 8"/>
          <p:cNvSpPr/>
          <p:nvPr/>
        </p:nvSpPr>
        <p:spPr>
          <a:xfrm>
            <a:off x="7223760" y="5715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clientes contactados, ~12 contratan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85216"/>
            <a:ext cx="146304" cy="146304"/>
          </a:xfrm>
          <a:prstGeom prst="ellipse">
            <a:avLst/>
          </a:prstGeom>
          <a:solidFill>
            <a:srgbClr val="2A4B7C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120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A4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LA OPORTUNIDAD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qué clientes conviene llamar primero</a:t>
            </a:r>
            <a:endParaRPr lang="en-US" sz="3100" dirty="0"/>
          </a:p>
        </p:txBody>
      </p:sp>
      <p:pic>
        <p:nvPicPr>
          <p:cNvPr id="5" name="Image 0" descr="/home/claude/slides/p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32660"/>
            <a:ext cx="6583680" cy="1907081"/>
          </a:xfrm>
          <a:prstGeom prst="rect">
            <a:avLst/>
          </a:prstGeom>
          <a:effectLst>
            <a:outerShdw blurRad="88900" dist="38100" dir="5400000" algn="bl" rotWithShape="0">
              <a:srgbClr val="9AA3AD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360920" y="1874520"/>
            <a:ext cx="4160520" cy="4023360"/>
          </a:xfrm>
          <a:prstGeom prst="roundRect">
            <a:avLst>
              <a:gd name="adj" fmla="val 2045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/>
          <p:nvPr/>
        </p:nvSpPr>
        <p:spPr>
          <a:xfrm>
            <a:off x="763524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4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con más probabilidad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0" y="2560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que ya contrataron antes → contratan al 65 % (5× la media).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meses de mayor respuesta (mar, sep, oct, dic).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Jóvenes y mayores, más receptivos que las edades medias.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sin hipoteca ni préstamo (más margen de ahorro).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85216"/>
            <a:ext cx="146304" cy="146304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120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CLIENTES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perfiles de cliente que el banco puede accionar</a:t>
            </a:r>
            <a:endParaRPr lang="en-US" sz="3100" dirty="0"/>
          </a:p>
        </p:txBody>
      </p:sp>
      <p:pic>
        <p:nvPicPr>
          <p:cNvPr id="5" name="Image 0" descr="/home/claude/slides/seg_co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84474"/>
            <a:ext cx="7315200" cy="3094892"/>
          </a:xfrm>
          <a:prstGeom prst="rect">
            <a:avLst/>
          </a:prstGeom>
          <a:effectLst>
            <a:outerShdw blurRad="88900" dist="38100" dir="5400000" algn="bl" rotWithShape="0">
              <a:srgbClr val="9AA3AD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001000" y="1874520"/>
            <a:ext cx="3611880" cy="4114800"/>
          </a:xfrm>
          <a:prstGeom prst="roundRect">
            <a:avLst>
              <a:gd name="adj" fmla="val 2278"/>
            </a:avLst>
          </a:prstGeom>
          <a:solidFill>
            <a:srgbClr val="EAF3EF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21031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23 % → 6 %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138160" y="29718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su perfil, un </a:t>
            </a:r>
            <a:r>
              <a:rPr lang="en-US" sz="1600" dirty="0" err="1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</a:t>
            </a: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casi </a:t>
            </a:r>
            <a:r>
              <a:rPr lang="en-US" sz="16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veces más</a:t>
            </a: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otro.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38160" y="388620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puede </a:t>
            </a: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 el esfuerzo</a:t>
            </a: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los dos perfiles fuertes y </a:t>
            </a: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despriorizar ~la mitad</a:t>
            </a: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cartera, perdiendo muy </a:t>
            </a:r>
            <a:r>
              <a:rPr lang="en-US" sz="1500" dirty="0" err="1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pocas</a:t>
            </a: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contrataciones</a:t>
            </a: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85216"/>
            <a:ext cx="146304" cy="146304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120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C1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para la próxima campaña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0607040" cy="786384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057400"/>
            <a:ext cx="420624" cy="420624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574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Recontactar a quienes ya contrataron   </a:t>
            </a:r>
            <a:r>
              <a:rPr lang="en-US" sz="1550" i="1" dirty="0">
                <a:solidFill>
                  <a:srgbClr val="3F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grupo que más convierte (~65 %).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807208"/>
            <a:ext cx="10607040" cy="786384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2990088"/>
            <a:ext cx="420624" cy="420624"/>
          </a:xfrm>
          <a:prstGeom prst="ellipse">
            <a:avLst/>
          </a:prstGeom>
          <a:solidFill>
            <a:srgbClr val="2A4B7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90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00200" y="2807208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 en los meses de mayor respuesta   </a:t>
            </a:r>
            <a:r>
              <a:rPr lang="en-US" sz="1550" i="1" dirty="0">
                <a:solidFill>
                  <a:srgbClr val="3F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marzo, septiembre, octubre y diciembre.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3739896"/>
            <a:ext cx="10607040" cy="786384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3922776"/>
            <a:ext cx="420624" cy="420624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227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00200" y="3739896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los 2 segmentos de alta conversión   </a:t>
            </a:r>
            <a:r>
              <a:rPr lang="en-US" sz="1550" i="1" dirty="0">
                <a:solidFill>
                  <a:srgbClr val="3F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despriorizar los 2 más bajos (~½ de la cartera).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4672584"/>
            <a:ext cx="10607040" cy="786384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4855464"/>
            <a:ext cx="420624" cy="420624"/>
          </a:xfrm>
          <a:prstGeom prst="ellipse">
            <a:avLst/>
          </a:prstGeom>
          <a:solidFill>
            <a:srgbClr val="2A4B7C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8554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600200" y="4672584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el nº de llamadas por cliente   </a:t>
            </a:r>
            <a:r>
              <a:rPr lang="en-US" sz="1550" i="1" dirty="0">
                <a:solidFill>
                  <a:srgbClr val="3F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insistir demasiado reduce la conversión.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la misma conversión con bastantes menos llamadas.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4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822960"/>
            <a:ext cx="128016" cy="128016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1280160"/>
            <a:ext cx="128016" cy="128016"/>
          </a:xfrm>
          <a:prstGeom prst="ellipse">
            <a:avLst/>
          </a:prstGeom>
          <a:solidFill>
            <a:srgbClr val="B58A2E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1645920"/>
            <a:ext cx="128016" cy="128016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0116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2377440"/>
            <a:ext cx="128016" cy="128016"/>
          </a:xfrm>
          <a:prstGeom prst="ellipse">
            <a:avLst/>
          </a:prstGeom>
          <a:solidFill>
            <a:srgbClr val="5FBBA3"/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0" y="2834640"/>
            <a:ext cx="128016" cy="128016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0" y="457200"/>
            <a:ext cx="128016" cy="128016"/>
          </a:xfrm>
          <a:prstGeom prst="ellipse">
            <a:avLst/>
          </a:prstGeom>
          <a:solidFill>
            <a:srgbClr val="B58A2E"/>
          </a:solidFill>
          <a:ln/>
        </p:spPr>
      </p:sp>
      <p:sp>
        <p:nvSpPr>
          <p:cNvPr id="9" name="Shape 7"/>
          <p:cNvSpPr/>
          <p:nvPr/>
        </p:nvSpPr>
        <p:spPr>
          <a:xfrm>
            <a:off x="11795760" y="1554480"/>
            <a:ext cx="128016" cy="128016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5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234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entregamos al banco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822960" y="2542032"/>
            <a:ext cx="384048" cy="384048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42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49631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fiable   </a:t>
            </a: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prioriza a quién llamar, con datos previos a la llamada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22960" y="3456432"/>
            <a:ext cx="384048" cy="384048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56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41071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accionables   </a:t>
            </a: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segmentos de cliente con conversión del 23 % al 6 %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22960" y="4370832"/>
            <a:ext cx="384048" cy="384048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370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432511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claras   </a:t>
            </a: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captar más contratando menos llamadas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continuación, el equipo técnico detalla cómo se construye el modelo.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4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822960"/>
            <a:ext cx="128016" cy="128016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1280160"/>
            <a:ext cx="128016" cy="128016"/>
          </a:xfrm>
          <a:prstGeom prst="ellipse">
            <a:avLst/>
          </a:prstGeom>
          <a:solidFill>
            <a:srgbClr val="B58A2E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1645920"/>
            <a:ext cx="128016" cy="128016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0116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2377440"/>
            <a:ext cx="128016" cy="128016"/>
          </a:xfrm>
          <a:prstGeom prst="ellipse">
            <a:avLst/>
          </a:prstGeom>
          <a:solidFill>
            <a:srgbClr val="5FBBA3"/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0" y="2834640"/>
            <a:ext cx="128016" cy="128016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0" y="457200"/>
            <a:ext cx="128016" cy="128016"/>
          </a:xfrm>
          <a:prstGeom prst="ellipse">
            <a:avLst/>
          </a:prstGeom>
          <a:solidFill>
            <a:srgbClr val="B58A2E"/>
          </a:solidFill>
          <a:ln/>
        </p:spPr>
      </p:sp>
      <p:sp>
        <p:nvSpPr>
          <p:cNvPr id="9" name="Shape 7"/>
          <p:cNvSpPr/>
          <p:nvPr/>
        </p:nvSpPr>
        <p:spPr>
          <a:xfrm>
            <a:off x="11795760" y="1554480"/>
            <a:ext cx="128016" cy="128016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11" name="Shape 9"/>
          <p:cNvSpPr/>
          <p:nvPr/>
        </p:nvSpPr>
        <p:spPr>
          <a:xfrm>
            <a:off x="740664" y="2901382"/>
            <a:ext cx="256032" cy="256032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498669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Procesado de datos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1097280" y="333987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datos · feature engineering · codificación · escalado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F5A1D-56B6-A17E-B763-82D1C12BC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3">
            <a:extLst>
              <a:ext uri="{FF2B5EF4-FFF2-40B4-BE49-F238E27FC236}">
                <a16:creationId xmlns:a16="http://schemas.microsoft.com/office/drawing/2014/main" id="{6E122F8D-17F7-FF61-E340-7578B7543735}"/>
              </a:ext>
            </a:extLst>
          </p:cNvPr>
          <p:cNvSpPr/>
          <p:nvPr/>
        </p:nvSpPr>
        <p:spPr>
          <a:xfrm>
            <a:off x="777240" y="3348770"/>
            <a:ext cx="10607040" cy="577958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/>
        </p:spPr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DEEEADA8-FD3A-B321-B443-689C26EFAC7E}"/>
              </a:ext>
            </a:extLst>
          </p:cNvPr>
          <p:cNvSpPr/>
          <p:nvPr/>
        </p:nvSpPr>
        <p:spPr>
          <a:xfrm>
            <a:off x="771113" y="2629607"/>
            <a:ext cx="10607040" cy="577958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/>
        </p:spPr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06721B90-B945-62B7-CFBA-285603AE8A9F}"/>
              </a:ext>
            </a:extLst>
          </p:cNvPr>
          <p:cNvSpPr/>
          <p:nvPr/>
        </p:nvSpPr>
        <p:spPr>
          <a:xfrm>
            <a:off x="777240" y="1902494"/>
            <a:ext cx="10607040" cy="577958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/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24FB4F0-2862-4A82-81CE-96A2DAB2A2F3}"/>
              </a:ext>
            </a:extLst>
          </p:cNvPr>
          <p:cNvSpPr/>
          <p:nvPr/>
        </p:nvSpPr>
        <p:spPr>
          <a:xfrm>
            <a:off x="731520" y="585216"/>
            <a:ext cx="146304" cy="146304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B112D6-2A39-9D08-823A-25EB198A0BA8}"/>
              </a:ext>
            </a:extLst>
          </p:cNvPr>
          <p:cNvSpPr/>
          <p:nvPr/>
        </p:nvSpPr>
        <p:spPr>
          <a:xfrm>
            <a:off x="1170432" y="246888"/>
            <a:ext cx="434915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BE64F75-2369-EBA1-51F9-49BBB67C4E51}"/>
              </a:ext>
            </a:extLst>
          </p:cNvPr>
          <p:cNvSpPr/>
          <p:nvPr/>
        </p:nvSpPr>
        <p:spPr>
          <a:xfrm>
            <a:off x="777240" y="1214266"/>
            <a:ext cx="10607040" cy="577958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345776C-0CE3-09CE-6C3D-32ED9D10781A}"/>
              </a:ext>
            </a:extLst>
          </p:cNvPr>
          <p:cNvSpPr/>
          <p:nvPr/>
        </p:nvSpPr>
        <p:spPr>
          <a:xfrm>
            <a:off x="988966" y="1268422"/>
            <a:ext cx="420624" cy="420624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9D77FD1-6802-1EEB-0FF5-9285ABE76A42}"/>
              </a:ext>
            </a:extLst>
          </p:cNvPr>
          <p:cNvSpPr/>
          <p:nvPr/>
        </p:nvSpPr>
        <p:spPr>
          <a:xfrm>
            <a:off x="975297" y="12684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BC4BA3F-2D7C-464A-0201-1DC3A773AD5F}"/>
              </a:ext>
            </a:extLst>
          </p:cNvPr>
          <p:cNvSpPr/>
          <p:nvPr/>
        </p:nvSpPr>
        <p:spPr>
          <a:xfrm>
            <a:off x="1600200" y="1114154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s-ES" dirty="0"/>
              <a:t>Eliminamos </a:t>
            </a:r>
            <a:r>
              <a:rPr lang="es-ES" b="1" dirty="0" err="1"/>
              <a:t>duration</a:t>
            </a:r>
            <a:r>
              <a:rPr lang="es-ES" dirty="0"/>
              <a:t> porque solo existe </a:t>
            </a:r>
            <a:r>
              <a:rPr lang="es-ES" i="1" dirty="0"/>
              <a:t>después</a:t>
            </a:r>
            <a:r>
              <a:rPr lang="es-ES" dirty="0"/>
              <a:t> de la llamada → provocaría </a:t>
            </a:r>
            <a:r>
              <a:rPr lang="es-ES" i="1" dirty="0"/>
              <a:t>data </a:t>
            </a:r>
            <a:r>
              <a:rPr lang="es-ES" i="1" dirty="0" err="1"/>
              <a:t>leakage</a:t>
            </a:r>
            <a:r>
              <a:rPr lang="es-E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71E9F7E-6ABB-B4F9-39AB-BA436DE941C1}"/>
              </a:ext>
            </a:extLst>
          </p:cNvPr>
          <p:cNvSpPr/>
          <p:nvPr/>
        </p:nvSpPr>
        <p:spPr>
          <a:xfrm>
            <a:off x="996696" y="1997753"/>
            <a:ext cx="420624" cy="420624"/>
          </a:xfrm>
          <a:prstGeom prst="ellipse">
            <a:avLst/>
          </a:prstGeom>
          <a:solidFill>
            <a:srgbClr val="2A4B7C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331D7B2-FE7C-9C5A-61EB-B7511E333AA3}"/>
              </a:ext>
            </a:extLst>
          </p:cNvPr>
          <p:cNvSpPr/>
          <p:nvPr/>
        </p:nvSpPr>
        <p:spPr>
          <a:xfrm>
            <a:off x="969264" y="198719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2BE0DA5-8B7B-9CC6-CFA4-DDFC54349348}"/>
              </a:ext>
            </a:extLst>
          </p:cNvPr>
          <p:cNvSpPr/>
          <p:nvPr/>
        </p:nvSpPr>
        <p:spPr>
          <a:xfrm>
            <a:off x="1621316" y="1786709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dirty="0"/>
              <a:t>Transformamos </a:t>
            </a:r>
            <a:r>
              <a:rPr lang="es-ES" b="1" dirty="0" err="1"/>
              <a:t>pdays</a:t>
            </a:r>
            <a:r>
              <a:rPr lang="es-ES" dirty="0"/>
              <a:t> a binaria: </a:t>
            </a:r>
            <a:r>
              <a:rPr lang="es-ES" b="1" dirty="0"/>
              <a:t>0 = sin contacto previo</a:t>
            </a:r>
            <a:r>
              <a:rPr lang="es-ES" dirty="0"/>
              <a:t>, </a:t>
            </a:r>
            <a:r>
              <a:rPr lang="es-ES" b="1" dirty="0"/>
              <a:t>1 = contacto previo</a:t>
            </a:r>
            <a:r>
              <a:rPr lang="es-ES" dirty="0"/>
              <a:t>.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8CB7A95-9155-221C-0044-0D9DEAF57B55}"/>
              </a:ext>
            </a:extLst>
          </p:cNvPr>
          <p:cNvSpPr/>
          <p:nvPr/>
        </p:nvSpPr>
        <p:spPr>
          <a:xfrm>
            <a:off x="990600" y="2708274"/>
            <a:ext cx="420624" cy="420624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E9497A1-FFF1-A46B-CB10-E2ECD7B9D8E6}"/>
              </a:ext>
            </a:extLst>
          </p:cNvPr>
          <p:cNvSpPr/>
          <p:nvPr/>
        </p:nvSpPr>
        <p:spPr>
          <a:xfrm>
            <a:off x="996696" y="2723051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7B984BC-E1AF-D397-9D3C-6F6807A2EF30}"/>
              </a:ext>
            </a:extLst>
          </p:cNvPr>
          <p:cNvSpPr/>
          <p:nvPr/>
        </p:nvSpPr>
        <p:spPr>
          <a:xfrm>
            <a:off x="1621316" y="2480452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dirty="0"/>
              <a:t>Recodificamos </a:t>
            </a:r>
            <a:r>
              <a:rPr lang="es-ES" b="1" dirty="0" err="1"/>
              <a:t>poutcome</a:t>
            </a:r>
            <a:r>
              <a:rPr lang="es-ES" b="1" dirty="0"/>
              <a:t> = </a:t>
            </a:r>
            <a:r>
              <a:rPr lang="es-ES" b="1" dirty="0" err="1"/>
              <a:t>unknown</a:t>
            </a:r>
            <a:r>
              <a:rPr lang="es-ES" dirty="0"/>
              <a:t> a </a:t>
            </a:r>
            <a:r>
              <a:rPr lang="es-ES" b="1" dirty="0" err="1"/>
              <a:t>no_previous_contact</a:t>
            </a:r>
            <a:r>
              <a:rPr lang="es-ES" dirty="0"/>
              <a:t>, alineado con </a:t>
            </a:r>
            <a:r>
              <a:rPr lang="es-ES" dirty="0" err="1"/>
              <a:t>pdays</a:t>
            </a:r>
            <a:r>
              <a:rPr lang="es-ES" dirty="0"/>
              <a:t> = -1.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6660E22-2EBE-5A18-C912-EB0F24478EA7}"/>
              </a:ext>
            </a:extLst>
          </p:cNvPr>
          <p:cNvSpPr/>
          <p:nvPr/>
        </p:nvSpPr>
        <p:spPr>
          <a:xfrm>
            <a:off x="988966" y="3434843"/>
            <a:ext cx="420624" cy="420624"/>
          </a:xfrm>
          <a:prstGeom prst="ellipse">
            <a:avLst/>
          </a:prstGeom>
          <a:solidFill>
            <a:srgbClr val="2A4B7C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80D54CE-BC4C-FEF2-7095-3337D71F6817}"/>
              </a:ext>
            </a:extLst>
          </p:cNvPr>
          <p:cNvSpPr/>
          <p:nvPr/>
        </p:nvSpPr>
        <p:spPr>
          <a:xfrm>
            <a:off x="975297" y="342692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C89E4DF-3625-4C38-E00C-4E455AF11960}"/>
              </a:ext>
            </a:extLst>
          </p:cNvPr>
          <p:cNvSpPr/>
          <p:nvPr/>
        </p:nvSpPr>
        <p:spPr>
          <a:xfrm>
            <a:off x="1621316" y="3266836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dirty="0"/>
              <a:t>Imputamos el valor de </a:t>
            </a:r>
            <a:r>
              <a:rPr lang="es-ES" dirty="0" err="1"/>
              <a:t>unknown</a:t>
            </a:r>
            <a:r>
              <a:rPr lang="es-ES" dirty="0"/>
              <a:t> en </a:t>
            </a:r>
            <a:r>
              <a:rPr lang="es-ES" b="1" dirty="0" err="1"/>
              <a:t>job</a:t>
            </a:r>
            <a:r>
              <a:rPr lang="es-ES" dirty="0"/>
              <a:t> (solo 0.6% </a:t>
            </a:r>
            <a:r>
              <a:rPr lang="es-ES" dirty="0" err="1"/>
              <a:t>unknown</a:t>
            </a:r>
            <a:r>
              <a:rPr lang="es-ES" dirty="0"/>
              <a:t>) con la </a:t>
            </a:r>
            <a:r>
              <a:rPr lang="es-ES" b="1" dirty="0"/>
              <a:t>moda del </a:t>
            </a:r>
            <a:r>
              <a:rPr lang="es-ES" b="1" dirty="0" err="1"/>
              <a:t>train</a:t>
            </a:r>
            <a:r>
              <a:rPr lang="en-US" sz="15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85C46F0-402E-E669-FF7B-F5ECC37C2270}"/>
              </a:ext>
            </a:extLst>
          </p:cNvPr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500" b="1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un </a:t>
            </a:r>
            <a:r>
              <a:rPr lang="es-ES" sz="1500" b="1" i="1" dirty="0" err="1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ES" sz="1500" b="1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más limpio, coherente y listo para modelar</a:t>
            </a:r>
            <a:r>
              <a:rPr lang="en-US" sz="1500" b="1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7B923BDF-8A21-0F42-8A4E-DA4A7268E717}"/>
              </a:ext>
            </a:extLst>
          </p:cNvPr>
          <p:cNvSpPr/>
          <p:nvPr/>
        </p:nvSpPr>
        <p:spPr>
          <a:xfrm>
            <a:off x="777240" y="4063779"/>
            <a:ext cx="10607040" cy="577958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/>
        </p:spPr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E32E6605-1E32-F90B-58D2-58C4646139A3}"/>
              </a:ext>
            </a:extLst>
          </p:cNvPr>
          <p:cNvSpPr/>
          <p:nvPr/>
        </p:nvSpPr>
        <p:spPr>
          <a:xfrm>
            <a:off x="792480" y="4808041"/>
            <a:ext cx="10607040" cy="577958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B6733343-4FB2-F4E1-CE23-C433CC37D953}"/>
              </a:ext>
            </a:extLst>
          </p:cNvPr>
          <p:cNvSpPr/>
          <p:nvPr/>
        </p:nvSpPr>
        <p:spPr>
          <a:xfrm>
            <a:off x="1600200" y="3924829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dirty="0"/>
              <a:t>Convertimos </a:t>
            </a:r>
            <a:r>
              <a:rPr lang="es-ES" b="1" dirty="0"/>
              <a:t>default</a:t>
            </a:r>
            <a:r>
              <a:rPr lang="es-ES" dirty="0"/>
              <a:t>, </a:t>
            </a:r>
            <a:r>
              <a:rPr lang="es-ES" b="1" dirty="0" err="1"/>
              <a:t>housing</a:t>
            </a:r>
            <a:r>
              <a:rPr lang="es-ES" dirty="0"/>
              <a:t> y </a:t>
            </a:r>
            <a:r>
              <a:rPr lang="es-ES" b="1" dirty="0"/>
              <a:t>loan</a:t>
            </a:r>
            <a:r>
              <a:rPr lang="es-ES" dirty="0"/>
              <a:t> a </a:t>
            </a:r>
            <a:r>
              <a:rPr lang="es-ES" b="1" dirty="0"/>
              <a:t>0/1</a:t>
            </a:r>
            <a:r>
              <a:rPr lang="es-ES" dirty="0"/>
              <a:t>.</a:t>
            </a:r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D3548087-D1A4-18B7-0350-CEBD00ED2D94}"/>
              </a:ext>
            </a:extLst>
          </p:cNvPr>
          <p:cNvSpPr/>
          <p:nvPr/>
        </p:nvSpPr>
        <p:spPr>
          <a:xfrm>
            <a:off x="1621316" y="4652296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7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58E0CEB5-3FDC-B202-46C0-0F4BE10C6F32}"/>
              </a:ext>
            </a:extLst>
          </p:cNvPr>
          <p:cNvSpPr/>
          <p:nvPr/>
        </p:nvSpPr>
        <p:spPr>
          <a:xfrm>
            <a:off x="1621316" y="4629279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dirty="0"/>
              <a:t>Mantenemos </a:t>
            </a:r>
            <a:r>
              <a:rPr lang="es-ES" b="1" dirty="0" err="1"/>
              <a:t>education</a:t>
            </a:r>
            <a:r>
              <a:rPr lang="es-ES" dirty="0"/>
              <a:t> y </a:t>
            </a:r>
            <a:r>
              <a:rPr lang="es-ES" b="1" dirty="0" err="1"/>
              <a:t>contact</a:t>
            </a:r>
            <a:r>
              <a:rPr lang="es-ES" dirty="0"/>
              <a:t> tal cual: </a:t>
            </a:r>
            <a:r>
              <a:rPr lang="es-ES" dirty="0" err="1"/>
              <a:t>unknown</a:t>
            </a:r>
            <a:r>
              <a:rPr lang="es-ES" dirty="0"/>
              <a:t> es una </a:t>
            </a:r>
            <a:r>
              <a:rPr lang="es-ES" b="1" dirty="0"/>
              <a:t>categoría válida</a:t>
            </a:r>
            <a:r>
              <a:rPr lang="es-ES" dirty="0"/>
              <a:t>, no un </a:t>
            </a:r>
            <a:r>
              <a:rPr lang="es-ES" dirty="0" err="1"/>
              <a:t>missing</a:t>
            </a:r>
            <a:r>
              <a:rPr lang="es-ES" dirty="0"/>
              <a:t> real.</a:t>
            </a: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6E4BDCF0-6E21-24F7-3816-D47FA78140E7}"/>
              </a:ext>
            </a:extLst>
          </p:cNvPr>
          <p:cNvSpPr/>
          <p:nvPr/>
        </p:nvSpPr>
        <p:spPr>
          <a:xfrm>
            <a:off x="990600" y="4136857"/>
            <a:ext cx="420624" cy="420624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92A61899-0356-9FCE-838A-C24ACB1455F0}"/>
              </a:ext>
            </a:extLst>
          </p:cNvPr>
          <p:cNvSpPr/>
          <p:nvPr/>
        </p:nvSpPr>
        <p:spPr>
          <a:xfrm>
            <a:off x="996696" y="4835176"/>
            <a:ext cx="420624" cy="420624"/>
          </a:xfrm>
          <a:prstGeom prst="ellipse">
            <a:avLst/>
          </a:prstGeom>
          <a:solidFill>
            <a:srgbClr val="2A4B7C"/>
          </a:solidFill>
          <a:ln/>
        </p:spPr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29DB89A9-7D3C-6E38-3118-6EE16AED64A8}"/>
              </a:ext>
            </a:extLst>
          </p:cNvPr>
          <p:cNvSpPr/>
          <p:nvPr/>
        </p:nvSpPr>
        <p:spPr>
          <a:xfrm>
            <a:off x="996696" y="414479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3139E24-23DC-CC0F-CD51-466D7A3A5716}"/>
              </a:ext>
            </a:extLst>
          </p:cNvPr>
          <p:cNvSpPr/>
          <p:nvPr/>
        </p:nvSpPr>
        <p:spPr>
          <a:xfrm>
            <a:off x="985667" y="4835085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505833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4B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786F5-2F6F-1CF9-DA08-93216C2A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7DFFBD-63F5-3BC8-1236-92A795890054}"/>
              </a:ext>
            </a:extLst>
          </p:cNvPr>
          <p:cNvSpPr/>
          <p:nvPr/>
        </p:nvSpPr>
        <p:spPr>
          <a:xfrm>
            <a:off x="10698480" y="822960"/>
            <a:ext cx="128016" cy="128016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7349B2B-94A8-58CC-C67D-69063713493E}"/>
              </a:ext>
            </a:extLst>
          </p:cNvPr>
          <p:cNvSpPr/>
          <p:nvPr/>
        </p:nvSpPr>
        <p:spPr>
          <a:xfrm>
            <a:off x="11155680" y="1280160"/>
            <a:ext cx="128016" cy="128016"/>
          </a:xfrm>
          <a:prstGeom prst="ellipse">
            <a:avLst/>
          </a:prstGeom>
          <a:solidFill>
            <a:srgbClr val="B58A2E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6A1A593-CD2F-20F3-D67A-11228271115A}"/>
              </a:ext>
            </a:extLst>
          </p:cNvPr>
          <p:cNvSpPr/>
          <p:nvPr/>
        </p:nvSpPr>
        <p:spPr>
          <a:xfrm>
            <a:off x="10424160" y="1645920"/>
            <a:ext cx="128016" cy="128016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CB7194C-76CC-B906-1DC4-3A8B2F63FD17}"/>
              </a:ext>
            </a:extLst>
          </p:cNvPr>
          <p:cNvSpPr/>
          <p:nvPr/>
        </p:nvSpPr>
        <p:spPr>
          <a:xfrm>
            <a:off x="11430000" y="20116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E103774-8461-E6EB-20CB-176720BC22C7}"/>
              </a:ext>
            </a:extLst>
          </p:cNvPr>
          <p:cNvSpPr/>
          <p:nvPr/>
        </p:nvSpPr>
        <p:spPr>
          <a:xfrm>
            <a:off x="10881360" y="2377440"/>
            <a:ext cx="128016" cy="128016"/>
          </a:xfrm>
          <a:prstGeom prst="ellipse">
            <a:avLst/>
          </a:prstGeom>
          <a:solidFill>
            <a:srgbClr val="5FBBA3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E5EC6C1-FC7C-6B49-AFA0-9078833AF8B1}"/>
              </a:ext>
            </a:extLst>
          </p:cNvPr>
          <p:cNvSpPr/>
          <p:nvPr/>
        </p:nvSpPr>
        <p:spPr>
          <a:xfrm>
            <a:off x="11612880" y="2834640"/>
            <a:ext cx="128016" cy="128016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699DEB2-EDA7-AE3E-30DE-154335EB7B06}"/>
              </a:ext>
            </a:extLst>
          </p:cNvPr>
          <p:cNvSpPr/>
          <p:nvPr/>
        </p:nvSpPr>
        <p:spPr>
          <a:xfrm>
            <a:off x="11064240" y="457200"/>
            <a:ext cx="128016" cy="128016"/>
          </a:xfrm>
          <a:prstGeom prst="ellipse">
            <a:avLst/>
          </a:prstGeom>
          <a:solidFill>
            <a:srgbClr val="B58A2E"/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BD39D1E-EC1E-F3F4-7BEB-09A3DF4E7C24}"/>
              </a:ext>
            </a:extLst>
          </p:cNvPr>
          <p:cNvSpPr/>
          <p:nvPr/>
        </p:nvSpPr>
        <p:spPr>
          <a:xfrm>
            <a:off x="11795760" y="1554480"/>
            <a:ext cx="128016" cy="128016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4D1CD44-49F3-236C-FA52-2B7D5ADD735D}"/>
              </a:ext>
            </a:extLst>
          </p:cNvPr>
          <p:cNvSpPr/>
          <p:nvPr/>
        </p:nvSpPr>
        <p:spPr>
          <a:xfrm>
            <a:off x="740664" y="2901382"/>
            <a:ext cx="256032" cy="256032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324C69F-9A92-104E-D69C-692896C84616}"/>
              </a:ext>
            </a:extLst>
          </p:cNvPr>
          <p:cNvSpPr/>
          <p:nvPr/>
        </p:nvSpPr>
        <p:spPr>
          <a:xfrm>
            <a:off x="1097280" y="2498669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para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</a:t>
            </a:r>
            <a:endParaRPr lang="en-US" sz="4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171FE29-B440-6322-7F04-DCACC67A5341}"/>
              </a:ext>
            </a:extLst>
          </p:cNvPr>
          <p:cNvSpPr/>
          <p:nvPr/>
        </p:nvSpPr>
        <p:spPr>
          <a:xfrm>
            <a:off x="1097280" y="333987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del preprocesamiento para optimizar la preparación de modelos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56822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D195A0-799C-94EE-9A7D-B3AF8A47B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5024D9-92EA-FA28-8070-7D64DBE67B18}"/>
              </a:ext>
            </a:extLst>
          </p:cNvPr>
          <p:cNvSpPr/>
          <p:nvPr/>
        </p:nvSpPr>
        <p:spPr>
          <a:xfrm>
            <a:off x="731520" y="585216"/>
            <a:ext cx="146304" cy="146304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D62C4D-6171-CE67-25C4-2AA3CD5D6DF0}"/>
              </a:ext>
            </a:extLst>
          </p:cNvPr>
          <p:cNvSpPr/>
          <p:nvPr/>
        </p:nvSpPr>
        <p:spPr>
          <a:xfrm>
            <a:off x="1170432" y="246888"/>
            <a:ext cx="518323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Pipelines para </a:t>
            </a:r>
            <a:r>
              <a:rPr lang="en-US" sz="3200" b="1" dirty="0" err="1">
                <a:latin typeface="Cambria" pitchFamily="34" charset="0"/>
                <a:ea typeface="Cambria" pitchFamily="34" charset="-122"/>
                <a:cs typeface="Cambria" pitchFamily="34" charset="-120"/>
              </a:rPr>
              <a:t>modelos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8BE4CD0-891B-4A67-67BD-59BB90422106}"/>
              </a:ext>
            </a:extLst>
          </p:cNvPr>
          <p:cNvSpPr/>
          <p:nvPr/>
        </p:nvSpPr>
        <p:spPr>
          <a:xfrm>
            <a:off x="777240" y="1365796"/>
            <a:ext cx="10607040" cy="1416648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D825B15-7F83-CCEB-1F7C-2294533E9E29}"/>
              </a:ext>
            </a:extLst>
          </p:cNvPr>
          <p:cNvSpPr/>
          <p:nvPr/>
        </p:nvSpPr>
        <p:spPr>
          <a:xfrm>
            <a:off x="903700" y="1709799"/>
            <a:ext cx="420624" cy="420624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B88D966-091B-E91C-1087-03EF2ECC8D0B}"/>
              </a:ext>
            </a:extLst>
          </p:cNvPr>
          <p:cNvSpPr/>
          <p:nvPr/>
        </p:nvSpPr>
        <p:spPr>
          <a:xfrm>
            <a:off x="1014983" y="1797261"/>
            <a:ext cx="222567" cy="276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AA1580A-66E0-7EF0-8240-CB2330DA1434}"/>
              </a:ext>
            </a:extLst>
          </p:cNvPr>
          <p:cNvSpPr/>
          <p:nvPr/>
        </p:nvSpPr>
        <p:spPr>
          <a:xfrm>
            <a:off x="1600200" y="1614627"/>
            <a:ext cx="9601200" cy="1265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s-ES" dirty="0"/>
              <a:t>Pipeline 1: modelos que sí necesitan escalado y transformaciones</a:t>
            </a:r>
          </a:p>
          <a:p>
            <a:pPr>
              <a:lnSpc>
                <a:spcPct val="150000"/>
              </a:lnSpc>
            </a:pPr>
            <a:r>
              <a:rPr lang="es-ES" dirty="0"/>
              <a:t>- </a:t>
            </a:r>
            <a:r>
              <a:rPr lang="es-ES" dirty="0" err="1"/>
              <a:t>Logistic</a:t>
            </a:r>
            <a:r>
              <a:rPr lang="es-ES" dirty="0"/>
              <a:t> </a:t>
            </a:r>
            <a:r>
              <a:rPr lang="es-ES" dirty="0" err="1"/>
              <a:t>Regression</a:t>
            </a:r>
            <a:r>
              <a:rPr lang="es-ES" dirty="0"/>
              <a:t>, KNN, SVM</a:t>
            </a:r>
          </a:p>
          <a:p>
            <a:pPr>
              <a:lnSpc>
                <a:spcPct val="150000"/>
              </a:lnSpc>
            </a:pPr>
            <a:r>
              <a:rPr lang="es-ES" dirty="0"/>
              <a:t>- Requieren escalado, transformación de numéricas y </a:t>
            </a:r>
            <a:r>
              <a:rPr lang="es-ES" dirty="0" err="1"/>
              <a:t>OneHotEncoder</a:t>
            </a:r>
            <a:r>
              <a:rPr lang="es-ES" dirty="0"/>
              <a:t> para categóricas.</a:t>
            </a:r>
          </a:p>
          <a:p>
            <a:pPr>
              <a:lnSpc>
                <a:spcPct val="150000"/>
              </a:lnSpc>
            </a:pPr>
            <a:endParaRPr lang="es-ES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09B60DB-8337-0683-EE9C-CE63BBB8D2B9}"/>
              </a:ext>
            </a:extLst>
          </p:cNvPr>
          <p:cNvSpPr/>
          <p:nvPr/>
        </p:nvSpPr>
        <p:spPr>
          <a:xfrm>
            <a:off x="996696" y="811094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500" b="1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crean 3 pipelines distintos según las necesidades de cada tipo de modelo.</a:t>
            </a:r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CB279AEA-B5CE-B45A-D15B-462CC885F4ED}"/>
              </a:ext>
            </a:extLst>
          </p:cNvPr>
          <p:cNvSpPr/>
          <p:nvPr/>
        </p:nvSpPr>
        <p:spPr>
          <a:xfrm>
            <a:off x="792480" y="3031275"/>
            <a:ext cx="10607040" cy="1416648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/>
        </p:spPr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EDA2384E-0771-ED2B-B536-18D8AA93495E}"/>
              </a:ext>
            </a:extLst>
          </p:cNvPr>
          <p:cNvSpPr/>
          <p:nvPr/>
        </p:nvSpPr>
        <p:spPr>
          <a:xfrm>
            <a:off x="918940" y="3375278"/>
            <a:ext cx="420624" cy="420624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1E613295-E719-3F73-1050-DD48BA62E042}"/>
              </a:ext>
            </a:extLst>
          </p:cNvPr>
          <p:cNvSpPr/>
          <p:nvPr/>
        </p:nvSpPr>
        <p:spPr>
          <a:xfrm>
            <a:off x="1030223" y="3462740"/>
            <a:ext cx="222567" cy="276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19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A58C9ABA-2CDE-EF6C-063B-EB3E70D6D20E}"/>
              </a:ext>
            </a:extLst>
          </p:cNvPr>
          <p:cNvSpPr/>
          <p:nvPr/>
        </p:nvSpPr>
        <p:spPr>
          <a:xfrm>
            <a:off x="1615440" y="3280106"/>
            <a:ext cx="9601200" cy="1265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s-ES" dirty="0"/>
              <a:t>Pipeline 2: modelos que no necesitan escalado, pero sí </a:t>
            </a:r>
            <a:r>
              <a:rPr lang="es-ES" dirty="0" err="1"/>
              <a:t>OneHotEncoder</a:t>
            </a:r>
            <a:endParaRPr lang="es-ES" dirty="0"/>
          </a:p>
          <a:p>
            <a:pPr>
              <a:lnSpc>
                <a:spcPct val="150000"/>
              </a:lnSpc>
            </a:pPr>
            <a:r>
              <a:rPr lang="es-ES" dirty="0"/>
              <a:t>- Árboles y </a:t>
            </a:r>
            <a:r>
              <a:rPr lang="es-ES" dirty="0" err="1"/>
              <a:t>ensembles</a:t>
            </a:r>
            <a:r>
              <a:rPr lang="es-ES" dirty="0"/>
              <a:t>: </a:t>
            </a:r>
            <a:r>
              <a:rPr lang="es-ES" dirty="0" err="1"/>
              <a:t>DecisionTree</a:t>
            </a:r>
            <a:r>
              <a:rPr lang="es-ES" dirty="0"/>
              <a:t>, </a:t>
            </a:r>
            <a:r>
              <a:rPr lang="es-ES" dirty="0" err="1"/>
              <a:t>RandomForest</a:t>
            </a:r>
            <a:r>
              <a:rPr lang="es-ES" dirty="0"/>
              <a:t>, </a:t>
            </a:r>
            <a:r>
              <a:rPr lang="es-ES" dirty="0" err="1"/>
              <a:t>XGBoost</a:t>
            </a:r>
            <a:r>
              <a:rPr lang="es-ES" dirty="0"/>
              <a:t>, </a:t>
            </a:r>
            <a:r>
              <a:rPr lang="es-ES" dirty="0" err="1"/>
              <a:t>LightGBM</a:t>
            </a:r>
            <a:endParaRPr lang="es-ES" dirty="0"/>
          </a:p>
          <a:p>
            <a:pPr>
              <a:lnSpc>
                <a:spcPct val="150000"/>
              </a:lnSpc>
            </a:pPr>
            <a:r>
              <a:rPr lang="es-ES" dirty="0"/>
              <a:t>- Las numéricas se dejan tal cual.</a:t>
            </a:r>
          </a:p>
          <a:p>
            <a:pPr>
              <a:lnSpc>
                <a:spcPct val="150000"/>
              </a:lnSpc>
            </a:pPr>
            <a:endParaRPr lang="es-ES" dirty="0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1E2549E2-50BC-73D3-CB7A-AEDCB708B165}"/>
              </a:ext>
            </a:extLst>
          </p:cNvPr>
          <p:cNvSpPr/>
          <p:nvPr/>
        </p:nvSpPr>
        <p:spPr>
          <a:xfrm>
            <a:off x="777240" y="4599252"/>
            <a:ext cx="10607040" cy="1416648"/>
          </a:xfrm>
          <a:prstGeom prst="roundRect">
            <a:avLst>
              <a:gd name="adj" fmla="val 6977"/>
            </a:avLst>
          </a:prstGeom>
          <a:solidFill>
            <a:srgbClr val="F3F5F8"/>
          </a:solidFill>
          <a:ln/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9549A2B7-E9B1-DFC6-012A-29CF18942BEA}"/>
              </a:ext>
            </a:extLst>
          </p:cNvPr>
          <p:cNvSpPr/>
          <p:nvPr/>
        </p:nvSpPr>
        <p:spPr>
          <a:xfrm>
            <a:off x="903700" y="4943255"/>
            <a:ext cx="420624" cy="420624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0597B5E2-42D4-9221-ADD5-EE0B2358B42C}"/>
              </a:ext>
            </a:extLst>
          </p:cNvPr>
          <p:cNvSpPr/>
          <p:nvPr/>
        </p:nvSpPr>
        <p:spPr>
          <a:xfrm>
            <a:off x="1014983" y="5030717"/>
            <a:ext cx="222567" cy="276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190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2F498BCB-D1A6-ACD9-2572-C960DB234029}"/>
              </a:ext>
            </a:extLst>
          </p:cNvPr>
          <p:cNvSpPr/>
          <p:nvPr/>
        </p:nvSpPr>
        <p:spPr>
          <a:xfrm>
            <a:off x="1600200" y="4848083"/>
            <a:ext cx="9601200" cy="1265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s-ES" dirty="0"/>
              <a:t>Pipeline 3: </a:t>
            </a:r>
            <a:r>
              <a:rPr lang="es-ES" dirty="0" err="1"/>
              <a:t>CatBoost</a:t>
            </a:r>
            <a:endParaRPr lang="es-ES" dirty="0"/>
          </a:p>
          <a:p>
            <a:pPr>
              <a:lnSpc>
                <a:spcPct val="150000"/>
              </a:lnSpc>
            </a:pPr>
            <a:r>
              <a:rPr lang="es-ES" dirty="0"/>
              <a:t>- No necesita ni escalado ni </a:t>
            </a:r>
            <a:r>
              <a:rPr lang="es-ES" dirty="0" err="1"/>
              <a:t>OneHotEncoder</a:t>
            </a:r>
            <a:endParaRPr lang="es-ES" dirty="0"/>
          </a:p>
          <a:p>
            <a:pPr>
              <a:lnSpc>
                <a:spcPct val="150000"/>
              </a:lnSpc>
            </a:pPr>
            <a:r>
              <a:rPr lang="es-ES" dirty="0"/>
              <a:t>- Maneja categóricas de forma nativa.</a:t>
            </a:r>
          </a:p>
          <a:p>
            <a:pPr>
              <a:lnSpc>
                <a:spcPct val="150000"/>
              </a:lnSpc>
            </a:pPr>
            <a:endParaRPr lang="es-ES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2BC838C3-79B7-07B0-1485-45434853AE7D}"/>
              </a:ext>
            </a:extLst>
          </p:cNvPr>
          <p:cNvSpPr/>
          <p:nvPr/>
        </p:nvSpPr>
        <p:spPr>
          <a:xfrm>
            <a:off x="777240" y="611340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500" b="1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modelo recibe el preprocesamiento óptimo para su funcionamiento.</a:t>
            </a:r>
          </a:p>
        </p:txBody>
      </p:sp>
    </p:spTree>
    <p:extLst>
      <p:ext uri="{BB962C8B-B14F-4D97-AF65-F5344CB8AC3E}">
        <p14:creationId xmlns:p14="http://schemas.microsoft.com/office/powerpoint/2010/main" val="3605213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4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822960"/>
            <a:ext cx="128016" cy="128016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1280160"/>
            <a:ext cx="128016" cy="128016"/>
          </a:xfrm>
          <a:prstGeom prst="ellipse">
            <a:avLst/>
          </a:prstGeom>
          <a:solidFill>
            <a:srgbClr val="B58A2E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1645920"/>
            <a:ext cx="128016" cy="128016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0116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2377440"/>
            <a:ext cx="128016" cy="128016"/>
          </a:xfrm>
          <a:prstGeom prst="ellipse">
            <a:avLst/>
          </a:prstGeom>
          <a:solidFill>
            <a:srgbClr val="5FBBA3"/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0" y="2834640"/>
            <a:ext cx="128016" cy="128016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0" y="457200"/>
            <a:ext cx="128016" cy="128016"/>
          </a:xfrm>
          <a:prstGeom prst="ellipse">
            <a:avLst/>
          </a:prstGeom>
          <a:solidFill>
            <a:srgbClr val="B58A2E"/>
          </a:solidFill>
          <a:ln/>
        </p:spPr>
      </p:sp>
      <p:sp>
        <p:nvSpPr>
          <p:cNvPr id="9" name="Shape 7"/>
          <p:cNvSpPr/>
          <p:nvPr/>
        </p:nvSpPr>
        <p:spPr>
          <a:xfrm>
            <a:off x="11795760" y="1554480"/>
            <a:ext cx="128016" cy="128016"/>
          </a:xfrm>
          <a:prstGeom prst="ellipse">
            <a:avLst/>
          </a:prstGeom>
          <a:solidFill>
            <a:srgbClr val="C1442E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816352"/>
            <a:ext cx="256032" cy="256032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26060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comparativa de modelos · optimización · evaluación en test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1478</Words>
  <Application>Microsoft Office PowerPoint</Application>
  <PresentationFormat>Panorámica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Berlin Sans FB Demi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Marta Harana Herrera</cp:lastModifiedBy>
  <cp:revision>10</cp:revision>
  <dcterms:created xsi:type="dcterms:W3CDTF">2026-07-14T15:44:15Z</dcterms:created>
  <dcterms:modified xsi:type="dcterms:W3CDTF">2026-07-17T19:16:39Z</dcterms:modified>
</cp:coreProperties>
</file>